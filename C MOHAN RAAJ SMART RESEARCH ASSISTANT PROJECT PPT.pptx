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87" r:id="rId9"/>
    <p:sldId id="262" r:id="rId10"/>
    <p:sldId id="264" r:id="rId11"/>
    <p:sldId id="278" r:id="rId12"/>
    <p:sldId id="286" r:id="rId13"/>
    <p:sldId id="277" r:id="rId14"/>
    <p:sldId id="280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A3F5A26-9903-B2F6-47E2-BCD9370F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B14C2AA-55F2-1AED-CCAB-FC2F13515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AFAFDE9-DD4A-83C2-F0D3-1D45BB87C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1483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mohanraajcse13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ohanRaaj/Smart-Research-Assistant.gi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7529599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 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 MOHAN RAAJ C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hlinkClick r:id="rId3"/>
                        </a:rPr>
                        <a:t>cmohanraajcse13@gmail.com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         9345294066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4131578" y="3683879"/>
            <a:ext cx="1036320" cy="87715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[Education &amp; Research.]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Smart Research Assistant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00114"/>
            <a:ext cx="1148181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Statement: Research Agent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</a:p>
          <a:p>
            <a:pPr algn="just" fontAlgn="base"/>
            <a:r>
              <a:rPr lang="en-US" dirty="0"/>
              <a:t>Research and innovation require analyzing vast amounts of academic information, but finding, reviewing, and organizing relevant research is often time-consuming and complex. Research data is scattered across multiple sources, making efficient knowledge discovery and insight generation challenging.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b="1" dirty="0"/>
              <a:t>The Objective</a:t>
            </a:r>
          </a:p>
          <a:p>
            <a:pPr algn="just" fontAlgn="base"/>
            <a:r>
              <a:rPr lang="en-US" dirty="0"/>
              <a:t>Build an AI-powered Research Agent that delivers intelligent research assistance and knowledge discovery for students, researchers, academicians, and industry professionals. The solution should: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Literature Search &amp; Retrieval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Automatically search and retrieve relevant research papers, articles, and academic resources from trusted repositories.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Research Paper </a:t>
            </a:r>
            <a:r>
              <a:rPr lang="en-US" b="1" dirty="0" err="1"/>
              <a:t>Summarisation</a:t>
            </a:r>
            <a:endParaRPr lang="en-US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Generate concise summaries of research papers, highlighting key findings, methodologies, and conclusions.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Knowledge Retrieval using RAG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Fetch and </a:t>
            </a:r>
            <a:r>
              <a:rPr lang="en-US" dirty="0" err="1"/>
              <a:t>synthesise</a:t>
            </a:r>
            <a:r>
              <a:rPr lang="en-US" dirty="0"/>
              <a:t> relevant information from stored research documents and external academic sources using Retrieval-Augmented Generation (RAG).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Research Assistance &amp; Insights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Provide explanations, answer research-related queries, identify trends, and suggest future research directions.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Research Knowledge Agent – </a:t>
            </a:r>
            <a:r>
              <a:rPr lang="en-US" dirty="0"/>
              <a:t>Retrieves research papers and relevant academic information.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Literature Review Agent – </a:t>
            </a:r>
            <a:r>
              <a:rPr lang="en-US" dirty="0" err="1"/>
              <a:t>Summarises</a:t>
            </a:r>
            <a:r>
              <a:rPr lang="en-US" dirty="0"/>
              <a:t> papers and extracts key findings.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Research Advisory Agent –</a:t>
            </a:r>
            <a:r>
              <a:rPr lang="en-US" dirty="0"/>
              <a:t> Suggests research directions, identifies gaps, and provides recommendations.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Report Generation Agent – </a:t>
            </a:r>
            <a:r>
              <a:rPr lang="en-US" dirty="0"/>
              <a:t>Generates structured research summaries, reports, and documentation.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Proposed Solution: </a:t>
            </a:r>
          </a:p>
          <a:p>
            <a:pPr fontAlgn="base"/>
            <a:endParaRPr lang="en-US" b="1" dirty="0"/>
          </a:p>
          <a:p>
            <a:pPr algn="just" fontAlgn="base"/>
            <a:r>
              <a:rPr lang="en-US" b="1" dirty="0"/>
              <a:t>AI-Powered Research Agent</a:t>
            </a:r>
          </a:p>
          <a:p>
            <a:pPr algn="just" fontAlgn="base"/>
            <a:r>
              <a:rPr lang="en-US" dirty="0"/>
              <a:t>The proposed solution is a multi-agent AI-powered Research Agent built using </a:t>
            </a:r>
            <a:r>
              <a:rPr lang="en-US" dirty="0" err="1"/>
              <a:t>LangFlow</a:t>
            </a:r>
            <a:r>
              <a:rPr lang="en-US" dirty="0"/>
              <a:t>, </a:t>
            </a:r>
            <a:r>
              <a:rPr lang="en-US" b="1" dirty="0"/>
              <a:t>IBM watsonx.ai, IBM Granite Models, </a:t>
            </a:r>
            <a:r>
              <a:rPr lang="en-US" b="1" dirty="0" err="1"/>
              <a:t>ChromaDB</a:t>
            </a:r>
            <a:r>
              <a:rPr lang="en-US" b="1" dirty="0"/>
              <a:t>, and Retrieval-Augmented Generation (RAG) </a:t>
            </a:r>
            <a:r>
              <a:rPr lang="en-US" dirty="0"/>
              <a:t>to assist researchers, students, academicians, and industry professionals in conducting efficient and intelligent research.</a:t>
            </a:r>
          </a:p>
          <a:p>
            <a:pPr algn="just" fontAlgn="base"/>
            <a:r>
              <a:rPr lang="en-US" dirty="0"/>
              <a:t>At its core, the solution uses a </a:t>
            </a:r>
            <a:r>
              <a:rPr lang="en-US" b="1" dirty="0"/>
              <a:t>RAG pipeline </a:t>
            </a:r>
            <a:r>
              <a:rPr lang="en-US" dirty="0"/>
              <a:t>to retrieve relevant research information from trusted academic sources such as </a:t>
            </a:r>
            <a:r>
              <a:rPr lang="en-US" dirty="0" err="1"/>
              <a:t>arXiv</a:t>
            </a:r>
            <a:r>
              <a:rPr lang="en-US" dirty="0"/>
              <a:t> papers, journals, and stored knowledge repositories. The retrieved content is embedded and stored in a </a:t>
            </a:r>
            <a:r>
              <a:rPr lang="en-US" dirty="0" err="1"/>
              <a:t>ChromaDB</a:t>
            </a:r>
            <a:r>
              <a:rPr lang="en-US" dirty="0"/>
              <a:t> vector database, enabling semantic search and contextual retrieval of research information using IBM Granite models.</a:t>
            </a:r>
          </a:p>
          <a:p>
            <a:pPr algn="just" fontAlgn="base"/>
            <a:r>
              <a:rPr lang="en-US" b="1" dirty="0"/>
              <a:t>The system consists of four key agents:</a:t>
            </a:r>
          </a:p>
          <a:p>
            <a:pPr algn="just" fontAlgn="base"/>
            <a:r>
              <a:rPr lang="en-US" b="1" dirty="0"/>
              <a:t>Research Knowledge </a:t>
            </a:r>
            <a:r>
              <a:rPr lang="en-US" dirty="0"/>
              <a:t>Agent retrieves and summarizes relevant research papers, articles, and academic resources using RAG.</a:t>
            </a:r>
          </a:p>
          <a:p>
            <a:pPr algn="just" fontAlgn="base"/>
            <a:r>
              <a:rPr lang="en-US" b="1" dirty="0"/>
              <a:t>Literature Review </a:t>
            </a:r>
            <a:r>
              <a:rPr lang="en-US" dirty="0"/>
              <a:t>Agent analyzes multiple research papers and generates concise literature reviews, key findings, and research trends.</a:t>
            </a:r>
          </a:p>
          <a:p>
            <a:pPr algn="just" fontAlgn="base"/>
            <a:r>
              <a:rPr lang="en-US" b="1" dirty="0"/>
              <a:t>Research Advisory Agent </a:t>
            </a:r>
            <a:r>
              <a:rPr lang="en-US" dirty="0"/>
              <a:t>identifies research gaps, suggests future research directions, and provides recommendations based on retrieved knowledge.</a:t>
            </a:r>
          </a:p>
          <a:p>
            <a:pPr algn="just" fontAlgn="base"/>
            <a:r>
              <a:rPr lang="en-US" b="1" dirty="0"/>
              <a:t>Report Generation Agent </a:t>
            </a:r>
            <a:r>
              <a:rPr lang="en-US" dirty="0"/>
              <a:t>creates structured research summaries, reports, and draft documentation from collected research information.</a:t>
            </a:r>
          </a:p>
          <a:p>
            <a:pPr algn="just" fontAlgn="base"/>
            <a:r>
              <a:rPr lang="en-US" dirty="0"/>
              <a:t>The solution includes a user-friendly interface built using </a:t>
            </a:r>
            <a:r>
              <a:rPr lang="en-US" dirty="0" err="1"/>
              <a:t>LangFlow</a:t>
            </a:r>
            <a:r>
              <a:rPr lang="en-US" dirty="0"/>
              <a:t>, allowing users to submit research queries and receive accurate, evidence-based responses in real time.</a:t>
            </a:r>
          </a:p>
          <a:p>
            <a:pPr algn="just" fontAlgn="base"/>
            <a:r>
              <a:rPr lang="en-US" b="1" dirty="0"/>
              <a:t>Lang Flow </a:t>
            </a:r>
            <a:r>
              <a:rPr lang="en-US" dirty="0"/>
              <a:t>is used to orchestrate agent workflows, while </a:t>
            </a:r>
            <a:r>
              <a:rPr lang="en-US" b="1" dirty="0"/>
              <a:t>IBM watsonx.ai </a:t>
            </a:r>
            <a:r>
              <a:rPr lang="en-US" dirty="0"/>
              <a:t>ensures scalable model deployment and AI governance. </a:t>
            </a:r>
          </a:p>
          <a:p>
            <a:pPr algn="just" fontAlgn="base"/>
            <a:r>
              <a:rPr lang="en-US" b="1" dirty="0"/>
              <a:t>IBM Granite Models </a:t>
            </a:r>
            <a:r>
              <a:rPr lang="en-US" dirty="0"/>
              <a:t>power reasoning, summarization, information extraction, and intelligent response generation</a:t>
            </a:r>
            <a:r>
              <a:rPr lang="en-US" b="1" dirty="0"/>
              <a:t>.</a:t>
            </a:r>
          </a:p>
          <a:p>
            <a:pPr algn="just" fontAlgn="base"/>
            <a:r>
              <a:rPr lang="en-US" dirty="0"/>
              <a:t>Overall, this solution delivers an end-to-end intelligent research assistant that automates literature search, paper summarization, knowledge discovery, and report generation, thereby improving research productivity, accuracy, and innovation.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1099016"/>
            <a:ext cx="88239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AutoNum type="arabicParenR"/>
            </a:pPr>
            <a:r>
              <a:rPr lang="en-IN" b="1" dirty="0"/>
              <a:t>Chat Input</a:t>
            </a:r>
            <a:r>
              <a:rPr lang="en-IN" dirty="0"/>
              <a:t> – Accepts research queries and user requests from the interface.</a:t>
            </a:r>
          </a:p>
          <a:p>
            <a:pPr marL="342900" indent="-342900">
              <a:buAutoNum type="arabicParenR"/>
            </a:pPr>
            <a:endParaRPr lang="en-IN" dirty="0"/>
          </a:p>
          <a:p>
            <a:r>
              <a:rPr lang="en-IN" b="1" dirty="0"/>
              <a:t>2) IBM watsonx.ai Model</a:t>
            </a:r>
            <a:r>
              <a:rPr lang="en-IN" dirty="0"/>
              <a:t> – Uses IBM Granite models to process research queries, perform reasoning, and generate intelligent responses.</a:t>
            </a:r>
          </a:p>
          <a:p>
            <a:endParaRPr lang="en-IN" dirty="0"/>
          </a:p>
          <a:p>
            <a:r>
              <a:rPr lang="en-IN" b="1" dirty="0"/>
              <a:t>3) Agent Component</a:t>
            </a:r>
            <a:r>
              <a:rPr lang="en-IN" dirty="0"/>
              <a:t> – Acts as the central Research Agent, coordinating tools, retrieving information, and generating research insights.</a:t>
            </a:r>
          </a:p>
          <a:p>
            <a:endParaRPr lang="en-IN" dirty="0"/>
          </a:p>
          <a:p>
            <a:r>
              <a:rPr lang="en-IN" b="1" dirty="0"/>
              <a:t>4) </a:t>
            </a:r>
            <a:r>
              <a:rPr lang="en-IN" b="1" dirty="0" err="1"/>
              <a:t>ChromaDB</a:t>
            </a:r>
            <a:r>
              <a:rPr lang="en-IN" dirty="0"/>
              <a:t> – Stores vector embeddings of research documents and enables semantic search through RAG-based retrieval.</a:t>
            </a:r>
          </a:p>
          <a:p>
            <a:endParaRPr lang="en-IN" dirty="0"/>
          </a:p>
          <a:p>
            <a:r>
              <a:rPr lang="en-IN" b="1" dirty="0"/>
              <a:t>5) </a:t>
            </a:r>
            <a:r>
              <a:rPr lang="en-IN" b="1" dirty="0" err="1"/>
              <a:t>arXiv</a:t>
            </a:r>
            <a:r>
              <a:rPr lang="en-IN" b="1" dirty="0"/>
              <a:t> Tool</a:t>
            </a:r>
            <a:r>
              <a:rPr lang="en-IN" dirty="0"/>
              <a:t> – Searches and retrieves relevant academic papers and scientific publications from the </a:t>
            </a:r>
            <a:r>
              <a:rPr lang="en-IN" dirty="0" err="1"/>
              <a:t>arXiv</a:t>
            </a:r>
            <a:r>
              <a:rPr lang="en-IN" dirty="0"/>
              <a:t> repository.</a:t>
            </a:r>
          </a:p>
          <a:p>
            <a:endParaRPr lang="en-IN" dirty="0"/>
          </a:p>
          <a:p>
            <a:r>
              <a:rPr lang="en-IN" b="1" dirty="0"/>
              <a:t>6) Chat Output</a:t>
            </a:r>
            <a:r>
              <a:rPr lang="en-IN" dirty="0"/>
              <a:t> – Displays generated summaries, research findings, recommendations, and final responses to the user.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7021" y="989869"/>
            <a:ext cx="9857585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52EC776-34D7-3EA7-7133-D86E179B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EF111-10A8-13E6-70D8-5E64185D4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877" b="7451"/>
          <a:stretch>
            <a:fillRect/>
          </a:stretch>
        </p:blipFill>
        <p:spPr>
          <a:xfrm>
            <a:off x="1167207" y="1635853"/>
            <a:ext cx="9857585" cy="4572000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97A826E0-1C63-C7A7-C735-C2ACD6403068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007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11200" y="1071448"/>
            <a:ext cx="10556239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Research Agent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Agentic AI enables the Research Agent to function as an intelligent, autonomous research assistant rather than a simple search tool. Using IBM watsonx.ai and IBM Granite Models, it coordinates multiple components to perform research-related tasks efficiently.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Each component performs a specialized role—such as retrieving research papers, conducting semantic searches, summarizing academic content, and generating research insights—while working together to deliver accurate and context-aware responses. This collaborative approach improves research quality and reduces manual effort.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Agentic AI also provides context awareness by understanding the user's research objectives and queries. It can retrieve relevant information from academic sources, analyze findings, and generate meaningful summaries and recommendations.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Additionally, the system continuously adapts to user inputs and combines information from multiple sources, enabling better decision-making and knowledge discovery.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Overall, Agentic AI makes the Research Agent proactive, intelligent, and goal-driven, acting as a smart digital research assistant that accelerates literature review, knowledge retrieval, and research innovation.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303201"/>
            <a:ext cx="960371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err="1"/>
              <a:t>LangFlow</a:t>
            </a:r>
            <a:r>
              <a:rPr lang="en-US" sz="1600" b="1" dirty="0"/>
              <a:t> Platform – </a:t>
            </a:r>
            <a:r>
              <a:rPr lang="en-US" sz="1600" dirty="0"/>
              <a:t>Used for designing and orchestrating the Research Agent workflow visually through interconnected AI components and tools.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IBM Granite Model (Granite 3.3 8B Instruct) – </a:t>
            </a:r>
            <a:r>
              <a:rPr lang="en-US" sz="1600" dirty="0"/>
              <a:t>Used for natural language understanding, reasoning, research paper summarization, and intelligent response generation.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IBM Cloud Lite Services – </a:t>
            </a:r>
            <a:r>
              <a:rPr lang="en-US" sz="1600" dirty="0"/>
              <a:t>Provides a secure, scalable, and reliable cloud environment for building, deploying, and managing the Research Agent.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RAG (Retrieval-Augmented Generation) – </a:t>
            </a:r>
            <a:r>
              <a:rPr lang="en-US" sz="1600" dirty="0"/>
              <a:t>Retrieves relevant research information from academic sources before generating responses, improving accuracy and reducing hallucinations.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IBM watsonx.ai – </a:t>
            </a:r>
            <a:r>
              <a:rPr lang="en-US" sz="1600" dirty="0"/>
              <a:t>Used for model deployment, inference, AI governance, and integration of IBM Granite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err="1"/>
              <a:t>ChromaDB</a:t>
            </a:r>
            <a:r>
              <a:rPr lang="en-US" sz="1600" b="1" dirty="0"/>
              <a:t> Vector Database – </a:t>
            </a:r>
            <a:r>
              <a:rPr lang="en-US" sz="1600" dirty="0"/>
              <a:t>Stores research document embeddings and enables semantic search and RAG-based knowledge retrieval.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err="1"/>
              <a:t>arXiv</a:t>
            </a:r>
            <a:r>
              <a:rPr lang="en-US" sz="1600" b="1" dirty="0"/>
              <a:t> API – </a:t>
            </a:r>
            <a:r>
              <a:rPr lang="en-US" sz="1600" dirty="0"/>
              <a:t>Retrieves academic papers and scientific publications for literature review and research assistance.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8666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The proposed Research Agent stands out by combining Agentic AI, Retrieval-Augmented Generation (RAG), and academic research automation into a single intelligent system.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Multi-Agent Intelligence </a:t>
            </a:r>
            <a:r>
              <a:rPr lang="en-US" sz="1800" dirty="0"/>
              <a:t>– Multiple specialized components collaborate to perform research-related tasks efficiently.</a:t>
            </a:r>
          </a:p>
          <a:p>
            <a:pPr algn="just"/>
            <a:r>
              <a:rPr lang="en-US" sz="1800" b="1" dirty="0"/>
              <a:t>RAG-Based Knowledge Retrieval </a:t>
            </a:r>
            <a:r>
              <a:rPr lang="en-US" sz="1800" dirty="0"/>
              <a:t>– Retrieves relevant research information before generating responses, improving accuracy and reliability.</a:t>
            </a:r>
            <a:endParaRPr lang="en-US" sz="1800" b="1" dirty="0"/>
          </a:p>
          <a:p>
            <a:pPr algn="just"/>
            <a:r>
              <a:rPr lang="en-US" sz="1800" b="1" dirty="0"/>
              <a:t>Automated Literature Review </a:t>
            </a:r>
            <a:r>
              <a:rPr lang="en-US" sz="1800" dirty="0"/>
              <a:t>– Summarizes research papers and extracts key findings automatically.</a:t>
            </a:r>
            <a:endParaRPr lang="en-US" sz="1800" b="1" dirty="0"/>
          </a:p>
          <a:p>
            <a:pPr algn="just"/>
            <a:r>
              <a:rPr lang="en-US" sz="1800" b="1" dirty="0"/>
              <a:t>Academic Paper Discovery </a:t>
            </a:r>
            <a:r>
              <a:rPr lang="en-US" sz="1800" dirty="0"/>
              <a:t>– Integrates </a:t>
            </a:r>
            <a:r>
              <a:rPr lang="en-US" sz="1800" dirty="0" err="1"/>
              <a:t>arXiv</a:t>
            </a:r>
            <a:r>
              <a:rPr lang="en-US" sz="1800" dirty="0"/>
              <a:t> to search and retrieve relevant scientific publications.</a:t>
            </a:r>
            <a:endParaRPr lang="en-US" sz="1800" b="1" dirty="0"/>
          </a:p>
          <a:p>
            <a:pPr algn="just"/>
            <a:r>
              <a:rPr lang="en-US" sz="1800" b="1" dirty="0"/>
              <a:t>Semantic Search Capability </a:t>
            </a:r>
            <a:r>
              <a:rPr lang="en-US" sz="1800" dirty="0"/>
              <a:t>– Uses </a:t>
            </a:r>
            <a:r>
              <a:rPr lang="en-US" sz="1800" dirty="0" err="1"/>
              <a:t>ChromaDB</a:t>
            </a:r>
            <a:r>
              <a:rPr lang="en-US" sz="1800" dirty="0"/>
              <a:t> for context-aware retrieval of research information.</a:t>
            </a:r>
            <a:endParaRPr lang="en-US" sz="1800" b="1" dirty="0"/>
          </a:p>
          <a:p>
            <a:pPr algn="just"/>
            <a:r>
              <a:rPr lang="en-US" sz="1800" b="1" dirty="0"/>
              <a:t>Research Insight Generation </a:t>
            </a:r>
            <a:r>
              <a:rPr lang="en-US" sz="1800" dirty="0"/>
              <a:t>– Assists in identifying trends, research gaps, and future directions.</a:t>
            </a:r>
          </a:p>
          <a:p>
            <a:pPr algn="just"/>
            <a:r>
              <a:rPr lang="en-US" sz="1800" b="1" dirty="0"/>
              <a:t>Scalable &amp; Enterprise Ready </a:t>
            </a:r>
            <a:r>
              <a:rPr lang="en-US" sz="1800" dirty="0"/>
              <a:t>– Built on IBM watsonx.ai and IBM Granite Models for reliability and governance.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This makes the solution an intelligent digital research assistant rather than a traditional search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https://github.com/CMohanRaaj/Smart-Research-Assistant.git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994550"/>
            <a:ext cx="9214580" cy="551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Integration with Multiple Research Databases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be extended to connect with IEEE Xplore, Springer, ScienceDirect, PubMed, and Google Scholar, enabling access to a broader range of academic resource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Automated Citation and Reference Management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agent can automatically generate citations in APA, MLA, IEEE, and Harvard formats, reducing manual effort and improving research documentation.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Research Gap Identification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AI capabilities can analyze existing literature and identify unexplored research areas and opportunities.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Research Report Generation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generate complete literature reviews, technical reports, and research documentation automatically.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Collaborative Research Platform</a:t>
            </a:r>
          </a:p>
          <a:p>
            <a:pPr marR="0" lvl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</a:pPr>
            <a:r>
              <a:rPr lang="en-US" sz="150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versions can support team-based research, allowing multiple users to share findings and collaborate in real time.</a:t>
            </a:r>
            <a:endParaRPr sz="15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1478</Words>
  <Application>Microsoft Office PowerPoint</Application>
  <PresentationFormat>Widescreen</PresentationFormat>
  <Paragraphs>137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MOHAN RAAJ C</cp:lastModifiedBy>
  <cp:revision>25</cp:revision>
  <dcterms:created xsi:type="dcterms:W3CDTF">2025-07-08T05:06:56Z</dcterms:created>
  <dcterms:modified xsi:type="dcterms:W3CDTF">2026-06-05T16:54:18Z</dcterms:modified>
</cp:coreProperties>
</file>